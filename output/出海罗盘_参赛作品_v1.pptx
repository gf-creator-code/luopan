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美国</c:v>
                </c:pt>
              </c:strCache>
            </c:strRef>
          </c:tx>
          <c:spPr>
            <a:ln w="30480">
              <a:solidFill>
                <a:srgbClr val="C8922A"/>
              </a:solidFill>
            </a:ln>
          </c:spPr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12.413</c:v>
                </c:pt>
                <c:pt idx="1">
                  <c:v>14.983</c:v>
                </c:pt>
                <c:pt idx="2">
                  <c:v>14.145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德国</c:v>
                </c:pt>
              </c:strCache>
            </c:strRef>
          </c:tx>
          <c:spPr>
            <a:ln w="30480">
              <a:solidFill>
                <a:srgbClr val="1D5C96"/>
              </a:solidFill>
            </a:ln>
          </c:spPr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3.884</c:v>
                </c:pt>
                <c:pt idx="1">
                  <c:v>4.512</c:v>
                </c:pt>
                <c:pt idx="2">
                  <c:v>4.609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加拿大</c:v>
                </c:pt>
              </c:strCache>
            </c:strRef>
          </c:tx>
          <c:spPr>
            <a:ln w="30480">
              <a:solidFill>
                <a:srgbClr val="4A90C4"/>
              </a:solidFill>
            </a:ln>
          </c:spPr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1.746</c:v>
                </c:pt>
                <c:pt idx="1">
                  <c:v>2.172</c:v>
                </c:pt>
                <c:pt idx="2">
                  <c:v>2.296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荷兰</c:v>
                </c:pt>
              </c:strCache>
            </c:strRef>
          </c:tx>
          <c:spPr>
            <a:ln w="30480">
              <a:solidFill>
                <a:srgbClr val="7FA8D0"/>
              </a:solidFill>
            </a:ln>
          </c:spPr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1.495</c:v>
                </c:pt>
                <c:pt idx="1">
                  <c:v>1.61</c:v>
                </c:pt>
                <c:pt idx="2">
                  <c:v>2.051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马来西亚</c:v>
                </c:pt>
              </c:strCache>
            </c:strRef>
          </c:tx>
          <c:spPr>
            <a:ln w="30480">
              <a:solidFill>
                <a:srgbClr val="B4CBE2"/>
              </a:solidFill>
            </a:ln>
          </c:spPr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0.391</c:v>
                </c:pt>
                <c:pt idx="1">
                  <c:v>0.572</c:v>
                </c:pt>
                <c:pt idx="2">
                  <c:v>0.643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综合总分</c:v>
                </c:pt>
              </c:strCache>
            </c:strRef>
          </c:tx>
          <c:spPr>
            <a:solidFill>
              <a:srgbClr val="1D5C96"/>
            </a:solidFill>
          </c:spPr>
          <c:dPt>
            <c:idx val="0"/>
            <c:spPr>
              <a:solidFill>
                <a:srgbClr val="C8922A"/>
              </a:solidFill>
            </c:spPr>
          </c:dPt>
          <c:cat>
            <c:strRef>
              <c:f>Sheet1!$A$2:$A$11</c:f>
              <c:strCache>
                <c:ptCount val="10"/>
                <c:pt idx="0">
                  <c:v>美国</c:v>
                </c:pt>
                <c:pt idx="1">
                  <c:v>德国</c:v>
                </c:pt>
                <c:pt idx="2">
                  <c:v>加拿大</c:v>
                </c:pt>
                <c:pt idx="3">
                  <c:v>荷兰</c:v>
                </c:pt>
                <c:pt idx="4">
                  <c:v>马来西亚</c:v>
                </c:pt>
                <c:pt idx="5">
                  <c:v>阿联酋</c:v>
                </c:pt>
                <c:pt idx="6">
                  <c:v>澳大利亚</c:v>
                </c:pt>
                <c:pt idx="7">
                  <c:v>沙特</c:v>
                </c:pt>
                <c:pt idx="8">
                  <c:v>英国</c:v>
                </c:pt>
                <c:pt idx="9">
                  <c:v>意大利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6.9986</c:v>
                </c:pt>
                <c:pt idx="1">
                  <c:v>4.39</c:v>
                </c:pt>
                <c:pt idx="2">
                  <c:v>4.2701</c:v>
                </c:pt>
                <c:pt idx="3">
                  <c:v>4.2172</c:v>
                </c:pt>
                <c:pt idx="4">
                  <c:v>3.9262</c:v>
                </c:pt>
                <c:pt idx="5">
                  <c:v>3.9251</c:v>
                </c:pt>
                <c:pt idx="6">
                  <c:v>3.9053</c:v>
                </c:pt>
                <c:pt idx="7">
                  <c:v>3.7898</c:v>
                </c:pt>
                <c:pt idx="8">
                  <c:v>3.6969</c:v>
                </c:pt>
                <c:pt idx="9">
                  <c:v>3.5714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5C6B7A"/>
                    </a:solidFill>
                    <a:latin typeface="微软雅黑"/>
                    <a:ea typeface="微软雅黑"/>
                  </a:rPr>
                  <a:t>候选市场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rPr sz="1100" b="0">
                    <a:solidFill>
                      <a:srgbClr val="5C6B7A"/>
                    </a:solidFill>
                    <a:latin typeface="微软雅黑"/>
                    <a:ea typeface="微软雅黑"/>
                  </a:rPr>
                  <a:t>综合总分（0-10）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中国份额%</c:v>
                </c:pt>
              </c:strCache>
            </c:strRef>
          </c:tx>
          <c:spPr>
            <a:solidFill>
              <a:srgbClr val="1D5C96"/>
            </a:solidFill>
          </c:spPr>
          <c:dPt>
            <c:idx val="0"/>
            <c:spPr>
              <a:solidFill>
                <a:srgbClr val="C8922A"/>
              </a:solidFill>
            </c:spPr>
          </c:dPt>
          <c:cat>
            <c:strRef>
              <c:f>Sheet1!$A$2:$A$6</c:f>
              <c:strCache>
                <c:ptCount val="5"/>
                <c:pt idx="0">
                  <c:v>美国</c:v>
                </c:pt>
                <c:pt idx="1">
                  <c:v>德国</c:v>
                </c:pt>
                <c:pt idx="2">
                  <c:v>加拿大</c:v>
                </c:pt>
                <c:pt idx="3">
                  <c:v>荷兰</c:v>
                </c:pt>
                <c:pt idx="4">
                  <c:v>马来西亚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23.6</c:v>
                </c:pt>
                <c:pt idx="1">
                  <c:v>11.8</c:v>
                </c:pt>
                <c:pt idx="2">
                  <c:v>16.2</c:v>
                </c:pt>
                <c:pt idx="3">
                  <c:v>7.9</c:v>
                </c:pt>
                <c:pt idx="4">
                  <c:v>28.1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100" b="0">
                    <a:solidFill>
                      <a:srgbClr val="5C6B7A"/>
                    </a:solidFill>
                    <a:latin typeface="微软雅黑"/>
                    <a:ea typeface="微软雅黑"/>
                  </a:rPr>
                  <a:t>中国份额（%）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美国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规模</c:v>
                </c:pt>
                <c:pt idx="1">
                  <c:v>增速</c:v>
                </c:pt>
                <c:pt idx="2">
                  <c:v>中国份额</c:v>
                </c:pt>
                <c:pt idx="3">
                  <c:v>购买力</c:v>
                </c:pt>
                <c:pt idx="4">
                  <c:v>数字渠道</c:v>
                </c:pt>
                <c:pt idx="5">
                  <c:v>物流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10.0</c:v>
                </c:pt>
                <c:pt idx="1">
                  <c:v>1.83</c:v>
                </c:pt>
                <c:pt idx="2">
                  <c:v>5.17</c:v>
                </c:pt>
                <c:pt idx="3">
                  <c:v>10.0</c:v>
                </c:pt>
                <c:pt idx="4">
                  <c:v>8.486</c:v>
                </c:pt>
                <c:pt idx="5">
                  <c:v>7.5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德国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规模</c:v>
                </c:pt>
                <c:pt idx="1">
                  <c:v>增速</c:v>
                </c:pt>
                <c:pt idx="2">
                  <c:v>中国份额</c:v>
                </c:pt>
                <c:pt idx="3">
                  <c:v>购买力</c:v>
                </c:pt>
                <c:pt idx="4">
                  <c:v>数字渠道</c:v>
                </c:pt>
                <c:pt idx="5">
                  <c:v>物流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3.204</c:v>
                </c:pt>
                <c:pt idx="1">
                  <c:v>2.081</c:v>
                </c:pt>
                <c:pt idx="2">
                  <c:v>1.989</c:v>
                </c:pt>
                <c:pt idx="3">
                  <c:v>6.403</c:v>
                </c:pt>
                <c:pt idx="4">
                  <c:v>8.146</c:v>
                </c:pt>
                <c:pt idx="5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马来西亚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规模</c:v>
                </c:pt>
                <c:pt idx="1">
                  <c:v>增速</c:v>
                </c:pt>
                <c:pt idx="2">
                  <c:v>中国份额</c:v>
                </c:pt>
                <c:pt idx="3">
                  <c:v>购买力</c:v>
                </c:pt>
                <c:pt idx="4">
                  <c:v>数字渠道</c:v>
                </c:pt>
                <c:pt idx="5">
                  <c:v>物流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0.379</c:v>
                </c:pt>
                <c:pt idx="1">
                  <c:v>4.31</c:v>
                </c:pt>
                <c:pt idx="2">
                  <c:v>6.38</c:v>
                </c:pt>
                <c:pt idx="3">
                  <c:v>1.111</c:v>
                </c:pt>
                <c:pt idx="4">
                  <c:v>9.435</c:v>
                </c:pt>
                <c:pt idx="5">
                  <c:v>5.833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8922A"/>
                </a:solidFill>
                <a:latin typeface="微软雅黑"/>
                <a:ea typeface="微软雅黑"/>
              </a:rPr>
              <a:t>第二届 · 通用赛道 ｜ 命题领域：出海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  <a:ea typeface="微软雅黑"/>
              </a:rPr>
              <a:t>出海罗盘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B9C7D6"/>
                </a:solidFill>
                <a:latin typeface="微软雅黑"/>
                <a:ea typeface="微软雅黑"/>
              </a:rPr>
              <a:t>GlobalCompass · 全球业务智能决策智能体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公开权威数据 × 确定性评分 × 可验证 AI 解读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世界银行 WDI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474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9BACC"/>
                </a:solidFill>
                <a:latin typeface="微软雅黑"/>
                <a:ea typeface="微软雅黑"/>
              </a:rPr>
              <a:t>宏观与营商环境指标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663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UN Comtrade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0474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9BACC"/>
                </a:solidFill>
                <a:latin typeface="微软雅黑"/>
                <a:ea typeface="微软雅黑"/>
              </a:rPr>
              <a:t>HS6 品类贸易数据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4663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数字台账守卫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9" y="50474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9BACC"/>
                </a:solidFill>
                <a:latin typeface="微软雅黑"/>
                <a:ea typeface="微软雅黑"/>
              </a:rPr>
              <a:t>AI 数字逐条核验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C9FB2"/>
                </a:solidFill>
                <a:latin typeface="微软雅黑"/>
                <a:ea typeface="微软雅黑"/>
              </a:rPr>
              <a:t>数据来源：世界银行 WDI · UN Comtrade（检索 2026-10）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作品背景与说明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出海第一问：先去哪个国家卖？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324F"/>
                </a:solidFill>
                <a:latin typeface="微软雅黑"/>
                <a:ea typeface="微软雅黑"/>
              </a:rPr>
              <a:t>中小卖家出海的第一道题，长期靠“拍脑袋”和二手报告。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5C96"/>
                </a:solidFill>
                <a:latin typeface="微软雅黑"/>
                <a:ea typeface="微软雅黑"/>
              </a:rPr>
              <a:t>拍脑袋决策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860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530"/>
                </a:solidFill>
                <a:latin typeface="微软雅黑"/>
                <a:ea typeface="微软雅黑"/>
              </a:rPr>
              <a:t>凭感觉选国家，缺乏数据支撑，试错成本极高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8529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5C96"/>
                </a:solidFill>
                <a:latin typeface="微软雅黑"/>
                <a:ea typeface="微软雅黑"/>
              </a:rPr>
              <a:t>二手报告贵且慢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85292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530"/>
                </a:solidFill>
                <a:latin typeface="微软雅黑"/>
                <a:ea typeface="微软雅黑"/>
              </a:rPr>
              <a:t>行业报告动辄数万元、周级交付，且口径不透明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41985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5C96"/>
                </a:solidFill>
                <a:latin typeface="微软雅黑"/>
                <a:ea typeface="微软雅黑"/>
              </a:rPr>
              <a:t>通用大模型直接问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419856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530"/>
                </a:solidFill>
                <a:latin typeface="微软雅黑"/>
                <a:ea typeface="微软雅黑"/>
              </a:rPr>
              <a:t>回答流畅，但数字凭模型记忆生成，无法溯源与复算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F"/>
                </a:solidFill>
                <a:latin typeface="微软雅黑"/>
                <a:ea typeface="微软雅黑"/>
              </a:rPr>
              <a:t>出海罗盘的主张：把「选市场」变成一次可复算的数据分析。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663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530"/>
                </a:solidFill>
                <a:latin typeface="微软雅黑"/>
                <a:ea typeface="微软雅黑"/>
              </a:rPr>
              <a:t>以便携咖啡机（HS 841981）为例：2023 年美国自全球进口 14.15 亿美元、中国份额 23.6%、年均增速 6.7%（UN Comtrade，检索 2026-10）。这些数字不应来自模型记忆，而应来自权威数据库的实时查询与确定性计算。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数据来源：UN Comtrade Public Preview，HS 841981，检索 2026-10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数据收集与处理 · 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三个公开权威渠道，全部可溯源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00200" y="1554480"/>
          <a:ext cx="9966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480560"/>
                <a:gridCol w="3291840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渠道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提供内容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权威性与时效性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世界银行 WDI API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人均GDP、人口、互联网渗透率、物流绩效 LPI、关税等 8 项指标（2019-2024）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国际组织官方数据库，2026-10-08 更新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UN Comtrade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HS6 细分品类进口额、年度序列、中国份额（21 市场 × 多年）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联合国官方贸易统计库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CEPII GeoDist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北京—首都大圆距离、RCEP 成员标识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国际经济学界标准地理数据库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00200" y="42519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530"/>
                </a:solidFill>
                <a:latin typeface="微软雅黑"/>
                <a:ea typeface="微软雅黑"/>
              </a:rPr>
              <a:t>全部为免密钥/开放授权接口：无爬虫、无合规风险；检索日期统一标注，满足匿名评审的数据合规要求。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接口实测：World Bank API v2 / UN Comtrade Public Preview（2026-10-12 连通性验证通过）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数据收集与处理 · 知识库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把“会查数据”沉淀为三层知识库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1645920"/>
            <a:ext cx="3200400" cy="265176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5C96"/>
                </a:solidFill>
                <a:latin typeface="微软雅黑"/>
                <a:ea typeface="微软雅黑"/>
              </a:rPr>
              <a:t>两级品类目录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2788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12 大类 / 58 细分品类，每个细分挂真实 6 位 HS 编码；未预取品类首次分析自动联网补数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645920"/>
            <a:ext cx="3200400" cy="265176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5C96"/>
                </a:solidFill>
                <a:latin typeface="微软雅黑"/>
                <a:ea typeface="微软雅黑"/>
              </a:rPr>
              <a:t>三级品类识别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377440"/>
            <a:ext cx="2788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关键词校对表（毫秒级）→ AI 拆解匹配（组合套件逐部件映射）→ 人工兜底；识别过程全程可视化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645920"/>
            <a:ext cx="3200400" cy="265176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5C96"/>
                </a:solidFill>
                <a:latin typeface="微软雅黑"/>
                <a:ea typeface="微软雅黑"/>
              </a:rPr>
              <a:t>真实案例库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377440"/>
            <a:ext cx="2788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相近品类/品牌公开事实 + 与评分排名的自动对照；来源仅收公司年报与公开报道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530"/>
                </a:solidFill>
                <a:latin typeface="微软雅黑"/>
                <a:ea typeface="微软雅黑"/>
              </a:rPr>
              <a:t>知识库的价值：让「任何小众品类」都能被结构化理解——例如“胶片翻拍设备”会被拆解为片夹（901090）、冲洗设备（901010）等部件并逐一定编码。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55080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品类目录与识别规则均已版本化管理，见代码仓库 luopan/config.py、luopan/profile.py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数据收集与处理 · 管线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一条可复现的数据管线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19202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09928" y="208483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324F"/>
                </a:solidFill>
                <a:latin typeface="微软雅黑"/>
                <a:ea typeface="微软雅黑"/>
              </a:rPr>
              <a:t>抓取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2542032"/>
            <a:ext cx="1298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C6B7A"/>
                </a:solidFill>
                <a:latin typeface="微软雅黑"/>
                <a:ea typeface="微软雅黑"/>
              </a:rPr>
              <a:t>官方 API，限速+退避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39572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922A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9202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208483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324F"/>
                </a:solidFill>
                <a:latin typeface="微软雅黑"/>
                <a:ea typeface="微软雅黑"/>
              </a:rPr>
              <a:t>缓存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542032"/>
            <a:ext cx="1298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C6B7A"/>
                </a:solidFill>
                <a:latin typeface="微软雅黑"/>
                <a:ea typeface="微软雅黑"/>
              </a:rPr>
              <a:t>本地 JSON，断网可用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9572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922A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19202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08483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324F"/>
                </a:solidFill>
                <a:latin typeface="微软雅黑"/>
                <a:ea typeface="微软雅黑"/>
              </a:rPr>
              <a:t>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542032"/>
            <a:ext cx="1298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C6B7A"/>
                </a:solidFill>
                <a:latin typeface="微软雅黑"/>
                <a:ea typeface="微软雅黑"/>
              </a:rPr>
              <a:t>编码/缺失，显式标注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39572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922A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19202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9168" y="208483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324F"/>
                </a:solidFill>
                <a:latin typeface="微软雅黑"/>
                <a:ea typeface="微软雅黑"/>
              </a:rPr>
              <a:t>评分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2542032"/>
            <a:ext cx="1298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C6B7A"/>
                </a:solidFill>
                <a:latin typeface="微软雅黑"/>
                <a:ea typeface="微软雅黑"/>
              </a:rPr>
              <a:t>确定性代码，同输入同输出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9572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922A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19202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42248" y="208483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324F"/>
                </a:solidFill>
                <a:latin typeface="微软雅黑"/>
                <a:ea typeface="微软雅黑"/>
              </a:rPr>
              <a:t>守卫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2542032"/>
            <a:ext cx="1298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C6B7A"/>
                </a:solidFill>
                <a:latin typeface="微软雅黑"/>
                <a:ea typeface="微软雅黑"/>
              </a:rPr>
              <a:t>AI 数字，台账核验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39572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922A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0" y="19202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25328" y="208483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324F"/>
                </a:solidFill>
                <a:latin typeface="微软雅黑"/>
                <a:ea typeface="微软雅黑"/>
              </a:rPr>
              <a:t>报告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25328" y="2542032"/>
            <a:ext cx="1298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C6B7A"/>
                </a:solidFill>
                <a:latin typeface="微软雅黑"/>
                <a:ea typeface="微软雅黑"/>
              </a:rPr>
              <a:t>带来源，可复算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3749039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530"/>
                </a:solidFill>
                <a:latin typeface="微软雅黑"/>
                <a:ea typeface="微软雅黑"/>
              </a:rPr>
              <a:t>工程细节即可信度：请求级限速与 429/503 退避、非 JSON 网关错误自动重试、双 LLM 通道自动切换、全量响应落盘缓存。同一份输入永远得到同一份排名。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709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324F"/>
                </a:solidFill>
                <a:latin typeface="微软雅黑"/>
                <a:ea typeface="微软雅黑"/>
              </a:rPr>
              <a:t>为什么这样做：数据管线的每一层都可能引入偏差，我们把每一层都变成「显式、可检查」的步骤——这是“可落地性”的工程基础。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数据收集与处理 · 贸易趋势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便携咖啡机：Top5 市场进口额趋势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600200" y="1554480"/>
          <a:ext cx="9966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355080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数据来源：UN Comtrade HS 841981 自全球进口额（亿美元），检索 2026-10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数据收集与处理 · 质量治理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四种真实故障，四种显式应对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1600200"/>
            <a:ext cx="9966960" cy="841248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728216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5C96"/>
                </a:solidFill>
                <a:latin typeface="微软雅黑"/>
                <a:ea typeface="微软雅黑"/>
              </a:rPr>
              <a:t>接口限流 429/503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728216"/>
            <a:ext cx="6217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请求级限速 + 指数退避重试 + 全量缓存跨天续跑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2660904"/>
            <a:ext cx="9966960" cy="841248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788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5C96"/>
                </a:solidFill>
                <a:latin typeface="微软雅黑"/>
                <a:ea typeface="微软雅黑"/>
              </a:rPr>
              <a:t>新品类无历史数据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788920"/>
            <a:ext cx="6217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按需实时补数（21 市场 ≈ 100 秒），缺失市场显式标注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3721608"/>
            <a:ext cx="9966960" cy="841248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849624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5C96"/>
                </a:solidFill>
                <a:latin typeface="微软雅黑"/>
                <a:ea typeface="微软雅黑"/>
              </a:rPr>
              <a:t>维度数据缺失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849624"/>
            <a:ext cx="6217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禁止黑箱编造：中位数回填 + 界面显式标注“待补维度”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4782312"/>
            <a:ext cx="9966960" cy="841248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491032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5C96"/>
                </a:solidFill>
                <a:latin typeface="微软雅黑"/>
                <a:ea typeface="微软雅黑"/>
              </a:rPr>
              <a:t>网关异常响应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910328"/>
            <a:ext cx="6217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非 JSON/SSE 双格式兼容 + 双 LLM 通道自动切换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324F"/>
                </a:solidFill>
                <a:latin typeface="微软雅黑"/>
                <a:ea typeface="微软雅黑"/>
              </a:rPr>
              <a:t>原则：数据缺失永远“显式标注”，绝不静默编造——这是可验证性的底线。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分析过程 · 方法选择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六维加权评分：把“选市场”变成可复算的模型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00200" y="1508760"/>
          <a:ext cx="65836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822960"/>
                <a:gridCol w="1188720"/>
              </a:tblGrid>
              <a:tr h="56170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权重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来源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市场规模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该 HS6 自全球进口额（最新年）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25%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UN Comtrade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市场增速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进口额首末年复合年均增速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UN Comtrade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渠道接受度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自中国进口 ÷ 自全球进口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20%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UN Comtrade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购买力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人均 GDP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世界银行 WDI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数字渠道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互联网渗透率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10%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世界银行 WDI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物流就绪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物流绩效指数 LPI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世界银行 WDI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03920" y="160020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5C96"/>
                </a:solidFill>
                <a:latin typeface="微软雅黑"/>
                <a:ea typeface="微软雅黑"/>
              </a:rPr>
              <a:t>为什么是这六个维度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规模+增速：蛋糕多大、还在不在长大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渠道接受度：当地卖不卖中国货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购买力：与价位段匹配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数字+物流：跨境履约基础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1E2530"/>
                </a:solidFill>
                <a:latin typeface="微软雅黑"/>
                <a:ea typeface="微软雅黑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权重全部用户可调，实时重排；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并列分按国家代码定序，同输入必同输出。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关税不入评分模型，仅在风险提示层呈现（世界银行制成品关税均值）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分析过程 · 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五步智能体流程：每一步都看得见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1828800"/>
            <a:ext cx="1828800" cy="155448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8922A"/>
                </a:solidFill>
                <a:latin typeface="微软雅黑"/>
                <a:ea typeface="微软雅黑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324F"/>
                </a:solidFill>
                <a:latin typeface="微软雅黑"/>
                <a:ea typeface="微软雅黑"/>
              </a:rPr>
              <a:t>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7432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C6B7A"/>
                </a:solidFill>
                <a:latin typeface="微软雅黑"/>
                <a:ea typeface="微软雅黑"/>
              </a:rPr>
              <a:t>生成分析计划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377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8922A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21608" y="1828800"/>
            <a:ext cx="1828800" cy="155448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8768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8922A"/>
                </a:solidFill>
                <a:latin typeface="微软雅黑"/>
                <a:ea typeface="微软雅黑"/>
              </a:rPr>
              <a:t>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324F"/>
                </a:solidFill>
                <a:latin typeface="微软雅黑"/>
                <a:ea typeface="微软雅黑"/>
              </a:rPr>
              <a:t>品类定位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7432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C6B7A"/>
                </a:solidFill>
                <a:latin typeface="微软雅黑"/>
                <a:ea typeface="微软雅黑"/>
              </a:rPr>
              <a:t>HS 编码三级识别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8" y="2377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8922A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43016" y="1828800"/>
            <a:ext cx="1828800" cy="155448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0176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8922A"/>
                </a:solidFill>
                <a:latin typeface="微软雅黑"/>
                <a:ea typeface="微软雅黑"/>
              </a:rPr>
              <a:t>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324F"/>
                </a:solidFill>
                <a:latin typeface="微软雅黑"/>
                <a:ea typeface="微软雅黑"/>
              </a:rPr>
              <a:t>覆盖检查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176" y="27432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C6B7A"/>
                </a:solidFill>
                <a:latin typeface="微软雅黑"/>
                <a:ea typeface="微软雅黑"/>
              </a:rPr>
              <a:t>缺口自动补数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1816" y="2377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8922A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64424" y="1828800"/>
            <a:ext cx="1828800" cy="155448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4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8922A"/>
                </a:solidFill>
                <a:latin typeface="微软雅黑"/>
                <a:ea typeface="微软雅黑"/>
              </a:rPr>
              <a:t>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4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324F"/>
                </a:solidFill>
                <a:latin typeface="微软雅黑"/>
                <a:ea typeface="微软雅黑"/>
              </a:rPr>
              <a:t>六维评分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27432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C6B7A"/>
                </a:solidFill>
                <a:latin typeface="微软雅黑"/>
                <a:ea typeface="微软雅黑"/>
              </a:rPr>
              <a:t>确定性计算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3224" y="2377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8922A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5832" y="1828800"/>
            <a:ext cx="1828800" cy="155448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8922A"/>
                </a:solidFill>
                <a:latin typeface="微软雅黑"/>
                <a:ea typeface="微软雅黑"/>
              </a:rPr>
              <a:t>narrate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324F"/>
                </a:solidFill>
                <a:latin typeface="微软雅黑"/>
                <a:ea typeface="微软雅黑"/>
              </a:rPr>
              <a:t>守卫叙事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27432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C6B7A"/>
                </a:solidFill>
                <a:latin typeface="微软雅黑"/>
                <a:ea typeface="微软雅黑"/>
              </a:rPr>
              <a:t>数字台账核验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749039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530"/>
                </a:solidFill>
                <a:latin typeface="微软雅黑"/>
                <a:ea typeface="微软雅黑"/>
              </a:rPr>
              <a:t>分工红线：LLM 只负责计划措辞、品类映射与台账内叙事；评分、排名、依据全部由确定性代码完成。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480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324F"/>
                </a:solidFill>
                <a:latin typeface="微软雅黑"/>
                <a:ea typeface="微软雅黑"/>
              </a:rPr>
              <a:t>叙事层的每个数字都要通过“数字台账守卫”——不在台账中的数字会被显式标警。这正是章程要求的“可验证智能体交互能力”的工程实现。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分析过程 · 数据实例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便携咖啡机：21 个候选市场评分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600200" y="1463040"/>
          <a:ext cx="66751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355080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数据来源：UN Comtrade HS 841981（2023 年进口额与 2021-2023 增速）+ 世界银行 WDI，检索 2026-10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5C96"/>
                </a:solidFill>
                <a:latin typeface="微软雅黑"/>
                <a:ea typeface="微软雅黑"/>
              </a:rPr>
              <a:t>怎么读这张图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530"/>
                </a:solidFill>
                <a:latin typeface="微软雅黑"/>
                <a:ea typeface="微软雅黑"/>
              </a:rPr>
              <a:t>美国以 6.999 分居首：规模、购买力、渠道接受度三项全面领先。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1E2530"/>
                </a:solidFill>
                <a:latin typeface="微软雅黑"/>
                <a:ea typeface="微软雅黑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530"/>
                </a:solidFill>
                <a:latin typeface="微软雅黑"/>
                <a:ea typeface="微软雅黑"/>
              </a:rPr>
              <a:t>马来西亚是典型“小而快”市场：规模仅 0.64 亿美元，但 28.3% 的增速与28.1% 的中国份额把它推进前五。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1E2530"/>
                </a:solidFill>
                <a:latin typeface="微软雅黑"/>
                <a:ea typeface="微软雅黑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530"/>
                </a:solidFill>
                <a:latin typeface="微软雅黑"/>
                <a:ea typeface="微软雅黑"/>
              </a:rPr>
              <a:t>排序由六维加权决定，不是单一指标排序——换权重即换视角。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分析过程 · 可信度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三道防线，让每个数字都站得住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1554480"/>
            <a:ext cx="9966960" cy="105156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700784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D5C96"/>
                </a:solidFill>
                <a:latin typeface="微软雅黑"/>
                <a:ea typeface="微软雅黑"/>
              </a:rPr>
              <a:t>第一道：确定性评分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700784"/>
            <a:ext cx="6126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评分与排名 100% 由代码完成（55 项自动化测试），同输入必同输出，任何人可复算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2816352"/>
            <a:ext cx="9966960" cy="105156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962656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D5C96"/>
                </a:solidFill>
                <a:latin typeface="微软雅黑"/>
                <a:ea typeface="微软雅黑"/>
              </a:rPr>
              <a:t>第二道：来源标注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962656"/>
            <a:ext cx="6126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报告与界面中的每个数字都带年份与来源（UN Comtrade / 世界银行），检索日期统一标注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4078224"/>
            <a:ext cx="9966960" cy="105156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22452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D5C96"/>
                </a:solidFill>
                <a:latin typeface="微软雅黑"/>
                <a:ea typeface="微软雅黑"/>
              </a:rPr>
              <a:t>第三道：数字台账守卫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224528"/>
            <a:ext cx="6126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AI 生成的每个数字都要与“事实清单+用户原文”台账比对，台账外的数字会被显式标警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324F"/>
                </a:solidFill>
                <a:latin typeface="微软雅黑"/>
                <a:ea typeface="微软雅黑"/>
              </a:rPr>
              <a:t>实测：守卫曾两次捕获模型自行推算的数字并标警——机制在真实运行中被验证有效。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创新性与独特视角 · 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三个创新点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1737360"/>
            <a:ext cx="3200400" cy="301752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5C96"/>
                </a:solidFill>
                <a:latin typeface="微软雅黑"/>
                <a:ea typeface="微软雅黑"/>
              </a:rPr>
              <a:t>数字台账守卫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560320"/>
            <a:ext cx="2788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AI 输出的每个数字与“事实清单+用户原文”台账逐条比对，台账外数字显式标警——把“可信”从口号变成机制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737360"/>
            <a:ext cx="3200400" cy="301752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5C96"/>
                </a:solidFill>
                <a:latin typeface="微软雅黑"/>
                <a:ea typeface="微软雅黑"/>
              </a:rPr>
              <a:t>确定性评分 × 受控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560320"/>
            <a:ext cx="2788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评分排名走纯代码（可复算），LLM 只做理解、编排与叙事；职责分离让“智能”与“可靠”兼得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737360"/>
            <a:ext cx="3200400" cy="301752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5C96"/>
                </a:solidFill>
                <a:latin typeface="微软雅黑"/>
                <a:ea typeface="微软雅黑"/>
              </a:rPr>
              <a:t>动态追问与案例研究员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560320"/>
            <a:ext cx="2788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快捷问题按本次结果实时生成；AI 案例研究员自动发现相近品牌并对照我们的排名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微软雅黑"/>
                <a:ea typeface="微软雅黑"/>
              </a:rPr>
              <a:t>创新不是堆功能，而是把“AI 应用的最大短板——不可信”变成产品的核心机制。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创新性与独特视角 · 视角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面向中小卖家的“可验证智能体”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324F"/>
                </a:solidFill>
                <a:latin typeface="微软雅黑"/>
                <a:ea typeface="微软雅黑"/>
              </a:rPr>
              <a:t>不做“更大的模型”，做“更可信的流程”。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286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5C96"/>
                </a:solidFill>
                <a:latin typeface="微软雅黑"/>
                <a:ea typeface="微软雅黑"/>
              </a:rPr>
              <a:t>数据 → 解读 → 动作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286000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530"/>
                </a:solidFill>
                <a:latin typeface="微软雅黑"/>
                <a:ea typeface="微软雅黑"/>
              </a:rPr>
              <a:t>不只给数字，更解释数字对卖家的意义，并落到可执行的第一步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2461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5C96"/>
                </a:solidFill>
                <a:latin typeface="微软雅黑"/>
                <a:ea typeface="微软雅黑"/>
              </a:rPr>
              <a:t>跨学科交叉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246120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530"/>
                </a:solidFill>
                <a:latin typeface="微软雅黑"/>
                <a:ea typeface="微软雅黑"/>
              </a:rPr>
              <a:t>软件工程（管线与守卫）× 国际贸易实务（HS 编码与贸易数据）× 数据科学（多准则评分）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2062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5C96"/>
                </a:solidFill>
                <a:latin typeface="微软雅黑"/>
                <a:ea typeface="微软雅黑"/>
              </a:rPr>
              <a:t>小即是美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206240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530"/>
                </a:solidFill>
                <a:latin typeface="微软雅黑"/>
                <a:ea typeface="微软雅黑"/>
              </a:rPr>
              <a:t>切口足够小（选市场），才能在 20 页内把深度、可信与体验同时做满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530"/>
                </a:solidFill>
                <a:latin typeface="微软雅黑"/>
                <a:ea typeface="微软雅黑"/>
              </a:rPr>
              <a:t>评委可以打开应用亲自验证：换权重、换品类、任意追问——结论随数据走，而不是随模型走。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结果解释与建议 · 解读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Top5 结果解读（便携咖啡机）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00200" y="1463040"/>
          <a:ext cx="90525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463040"/>
                <a:gridCol w="1280160"/>
                <a:gridCol w="2377440"/>
                <a:gridCol w="1645920"/>
                <a:gridCol w="146304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排名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市场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总分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进口额(亿美元)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中国份额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年均增速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美国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6.999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14.15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23.6%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6.7%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德国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4.390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4.61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11.8%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加拿大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4.270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2.30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16.2%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14.7%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荷兰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4.217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2.05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17.1%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马来西亚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3.926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0.64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28.1%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530"/>
                          </a:solidFill>
                          <a:latin typeface="微软雅黑"/>
                          <a:ea typeface="微软雅黑"/>
                        </a:rPr>
                        <a:t>28.3%</a:t>
                      </a:r>
                    </a:p>
                  </a:txBody>
                  <a:tcPr>
                    <a:solidFill>
                      <a:srgbClr val="EDF1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600200" y="4160520"/>
          <a:ext cx="996696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355080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数据来源：UN Comtrade HS 841981，检索 2026-10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结果解释与建议 · 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六维画像：美国 vs 德国 vs 马来西亚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15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600200" y="1417320"/>
          <a:ext cx="58521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0" y="164592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5C96"/>
                </a:solidFill>
                <a:latin typeface="微软雅黑"/>
                <a:ea typeface="微软雅黑"/>
              </a:rPr>
              <a:t>三个形状，三种打法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美国：全维度均衡的高分六边形——综合实力型市场，拼产品与品牌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德国：增长与物流突出、规模中游——稳扎稳打的欧洲桥头堡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马来西亚：增速与中国份额双高、规模小——适合小预算快速试错的先发市场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1E2530"/>
                </a:solidFill>
                <a:latin typeface="微软雅黑"/>
                <a:ea typeface="微软雅黑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C6B7A"/>
                </a:solidFill>
                <a:latin typeface="微软雅黑"/>
                <a:ea typeface="微软雅黑"/>
              </a:rPr>
              <a:t>雷达不是装饰：它解释了“为什么总分接近的两国，打法应当完全不同”。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子项得分 0-10（候选池内归一化），数据截至 2023 年进口年度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结果解释与建议 · 案例佐证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真实品牌怎么走，我们就验证出什么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1554480"/>
            <a:ext cx="9966960" cy="137160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700784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D5C96"/>
                </a:solidFill>
                <a:latin typeface="微软雅黑"/>
                <a:ea typeface="微软雅黑"/>
              </a:rPr>
              <a:t>石头科技 Roborock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21408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扫地机器人同品类：据年报，境外收入占比近五成，以美国、德国等欧美市场为主力。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596896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C8922A"/>
                </a:solidFill>
                <a:latin typeface="微软雅黑"/>
                <a:ea typeface="微软雅黑"/>
              </a:rPr>
              <a:t>其主攻市场 USA、DEU 落在我们评分的第 1、2 名（对照由代码自动计算）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3127248"/>
            <a:ext cx="9966960" cy="137160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27355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D5C96"/>
                </a:solidFill>
                <a:latin typeface="微软雅黑"/>
                <a:ea typeface="微软雅黑"/>
              </a:rPr>
              <a:t>COSORI（Vesync）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94176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530"/>
                </a:solidFill>
                <a:latin typeface="微软雅黑"/>
                <a:ea typeface="微软雅黑"/>
              </a:rPr>
              <a:t>空气炸锅品类：深耕亚马逊美国站，长期位居品类线上销量前列。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169663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C8922A"/>
                </a:solidFill>
                <a:latin typeface="微软雅黑"/>
                <a:ea typeface="微软雅黑"/>
              </a:rPr>
              <a:t>与我们「美国优先」的推荐路径一致（对照由代码自动计算）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324F"/>
                </a:solidFill>
                <a:latin typeface="微软雅黑"/>
                <a:ea typeface="微软雅黑"/>
              </a:rPr>
              <a:t>方法论自洽：真实品牌的成功路径，与数据推导的推荐方向相互印证——这不是巧合，而是同一套市场规律的不同投影。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来源：公司年报及公开报道（检索 2026-10）；对照计算见代码 luopan/cases.py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结果解释与建议 · 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风险识别与应对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1554480"/>
            <a:ext cx="9966960" cy="969264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64207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D5C96"/>
                </a:solidFill>
                <a:latin typeface="微软雅黑"/>
                <a:ea typeface="微软雅黑"/>
              </a:rPr>
              <a:t>中国份额是双刃剑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64207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风险：接受度高同时意味着价格战激烈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664207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应对：差异化定位（容量/设计/配套），避开纯比价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2651760"/>
            <a:ext cx="9966960" cy="969264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76148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D5C96"/>
                </a:solidFill>
                <a:latin typeface="微软雅黑"/>
                <a:ea typeface="微软雅黑"/>
              </a:rPr>
              <a:t>增速平稳≠躺赢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6148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风险：美国 6.7% 增速靠运营抢量，而非自然红利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76148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应对：小预算 FBA 单 listing 先验证转化，再决定加投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0200" y="3749039"/>
            <a:ext cx="9966960" cy="969264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385876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D5C96"/>
                </a:solidFill>
                <a:latin typeface="微软雅黑"/>
                <a:ea typeface="微软雅黑"/>
              </a:rPr>
              <a:t>数据时效与缺失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85876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风险：贸易数据年度更新，个别维度缺失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85876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应对：缺失显式标注 + 年度自动更新 + 用户可复核原始数据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00200" y="4846320"/>
            <a:ext cx="9966960" cy="969264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495604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D5C96"/>
                </a:solidFill>
                <a:latin typeface="微软雅黑"/>
                <a:ea typeface="微软雅黑"/>
              </a:rPr>
              <a:t>品类映射错误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95604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风险：AI 编码映射可能偏差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95604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应对：三级识别 + 人工兜底输入，界面全程可见拆解过程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989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324F"/>
                </a:solidFill>
                <a:latin typeface="微软雅黑"/>
                <a:ea typeface="微软雅黑"/>
              </a:rPr>
              <a:t>风险层的存在本身就是产品能力：能说清“什么时候不该信我”的系统，才值得被信任。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结果解释与建议 · 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我们知道自己的边界，以及下一步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1554480"/>
            <a:ext cx="9966960" cy="932688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64207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D5C96"/>
                </a:solidFill>
                <a:latin typeface="微软雅黑"/>
                <a:ea typeface="微软雅黑"/>
              </a:rPr>
              <a:t>定价与汇率维度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64207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现状：当前价位仅作输入口径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64207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下一步：引入电商价格带数据与汇率敏感性分析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2633472"/>
            <a:ext cx="9966960" cy="932688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7432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D5C96"/>
                </a:solidFill>
                <a:latin typeface="微软雅黑"/>
                <a:ea typeface="微软雅黑"/>
              </a:rPr>
              <a:t>实时竞品信号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7432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现状：贸易数据为年度粒度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743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下一步：接入电商榜单位移与社媒声量作为高频补充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0200" y="3712463"/>
            <a:ext cx="9966960" cy="932688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3822191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D5C96"/>
                </a:solidFill>
                <a:latin typeface="微软雅黑"/>
                <a:ea typeface="微软雅黑"/>
              </a:rPr>
              <a:t>多语言输出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822191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现状：报告目前为简体中文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822191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下一步：按目标市场语言生成本地化报告（德/日/西）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00200" y="4791455"/>
            <a:ext cx="9966960" cy="932688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4901183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D5C96"/>
                </a:solidFill>
                <a:latin typeface="微软雅黑"/>
                <a:ea typeface="微软雅黑"/>
              </a:rPr>
              <a:t>治理数据源扩展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901183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现状：WGI 监管质量指标暂缺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901183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下一步：接入世界银行 WGI 完善制度环境维度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324F"/>
                </a:solidFill>
                <a:latin typeface="微软雅黑"/>
                <a:ea typeface="微软雅黑"/>
              </a:rPr>
              <a:t>诚实的边界陈述是优化路线图的起点——每一条都有明确的实现路径。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234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7DFE8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84048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922A"/>
                </a:solidFill>
                <a:latin typeface="微软雅黑"/>
                <a:ea typeface="微软雅黑"/>
              </a:rPr>
              <a:t>应用结果呈现 · 界面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5836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24F"/>
                </a:solidFill>
                <a:latin typeface="微软雅黑"/>
                <a:ea typeface="微软雅黑"/>
              </a:rPr>
              <a:t>智能体应用界面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530"/>
                </a:solidFill>
                <a:latin typeface="微软雅黑"/>
                <a:ea typeface="微软雅黑"/>
              </a:rPr>
              <a:t>选择式输入（品类/价位/区域/权重）→ 一键分析 → 结果与依据同屏呈现。</a:t>
            </a:r>
          </a:p>
        </p:txBody>
      </p:sp>
      <p:pic>
        <p:nvPicPr>
          <p:cNvPr id="7" name="Picture 6" descr="crop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783080"/>
            <a:ext cx="7772400" cy="40805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597331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应用界面：价位与区域设置（上）→ 指标卡与排名表、Top10 图（下）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17830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D5C96"/>
                </a:solidFill>
                <a:latin typeface="微软雅黑"/>
                <a:ea typeface="微软雅黑"/>
              </a:rPr>
              <a:t>交互要点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选择式输入，小众品类走 AI 拆解且过程可见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六维权重的滑条实时重排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守卫警告显式展示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E2530"/>
                </a:solidFill>
                <a:latin typeface="微软雅黑"/>
                <a:ea typeface="微软雅黑"/>
              </a:rPr>
              <a:t>追问次数不限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8922A"/>
                </a:solidFill>
                <a:latin typeface="微软雅黑"/>
                <a:ea typeface="微软雅黑"/>
              </a:rPr>
              <a:t>应用结果呈现 · 提示词示例与智能体链接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三个提示词，看懂三种能力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8922A"/>
                </a:solidFill>
                <a:latin typeface="微软雅黑"/>
                <a:ea typeface="微软雅黑"/>
              </a:rPr>
              <a:t>① 评分与依据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8483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“便携咖啡机，零售价300元，主攻线上渠道”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1401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9BACC"/>
                </a:solidFill>
                <a:latin typeface="微软雅黑"/>
                <a:ea typeface="微软雅黑"/>
              </a:rPr>
              <a:t>六维加权评分 → Top5 排名与依据卡 → 守卫核验的通俗点评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44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8922A"/>
                </a:solidFill>
                <a:latin typeface="微软雅黑"/>
                <a:ea typeface="微软雅黑"/>
              </a:rPr>
              <a:t>② 约束重排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“如果只看东南亚还有哪些机会？”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210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9BACC"/>
                </a:solidFill>
                <a:latin typeface="微软雅黑"/>
                <a:ea typeface="微软雅黑"/>
              </a:rPr>
              <a:t>东南亚子池内重新归一化排序，马来西亚以增速+渠道双高居首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5137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8922A"/>
                </a:solidFill>
                <a:latin typeface="微软雅黑"/>
                <a:ea typeface="微软雅黑"/>
              </a:rPr>
              <a:t>③ 对比归因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988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“第一名和第二名对比一下，选哪个？”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28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9BACC"/>
                </a:solidFill>
                <a:latin typeface="微软雅黑"/>
                <a:ea typeface="微软雅黑"/>
              </a:rPr>
              <a:t>双市场逐维度对比，数字全部来自台账，结论可直接执行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智能体访问链接与评审测试账号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9BACC"/>
                </a:solidFill>
                <a:latin typeface="微软雅黑"/>
                <a:ea typeface="微软雅黑"/>
              </a:rPr>
              <a:t>随作品提交包提供（含访问码），评审期间持续在线；数据来源与全部代码见随附仓库。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8922A"/>
                </a:solidFill>
                <a:latin typeface="微软雅黑"/>
                <a:ea typeface="微软雅黑"/>
              </a:rPr>
              <a:t>出海罗盘 · 让每一次出海决策，都有据可依。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